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ora"/>
      <p:regular r:id="rId17"/>
    </p:embeddedFont>
    <p:embeddedFont>
      <p:font typeface="Lora"/>
      <p:regular r:id="rId18"/>
    </p:embeddedFont>
    <p:embeddedFont>
      <p:font typeface="Lora"/>
      <p:regular r:id="rId19"/>
    </p:embeddedFont>
    <p:embeddedFont>
      <p:font typeface="Lora"/>
      <p:regular r:id="rId20"/>
    </p:embeddedFont>
    <p:embeddedFont>
      <p:font typeface="Source Sans 3"/>
      <p:regular r:id="rId21"/>
    </p:embeddedFont>
    <p:embeddedFont>
      <p:font typeface="Source Sans 3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4447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58" y="616744"/>
            <a:ext cx="5247084" cy="699611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24124" y="2054423"/>
            <a:ext cx="3975140" cy="449818"/>
          </a:xfrm>
          <a:prstGeom prst="roundRect">
            <a:avLst>
              <a:gd name="adj" fmla="val 6386"/>
            </a:avLst>
          </a:prstGeom>
          <a:solidFill>
            <a:srgbClr val="49042A"/>
          </a:solidFill>
          <a:ln/>
        </p:spPr>
      </p:sp>
      <p:sp>
        <p:nvSpPr>
          <p:cNvPr id="5" name="Text 2"/>
          <p:cNvSpPr/>
          <p:nvPr/>
        </p:nvSpPr>
        <p:spPr>
          <a:xfrm>
            <a:off x="6467713" y="2126218"/>
            <a:ext cx="368796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VISUALIZATION ASSIGNMENT · POWER BI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324124" y="2599968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Namma Yatri: Ride Analytics Dashboard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324124" y="4103727"/>
            <a:ext cx="450592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Sakshi Ghodeswar</a:t>
            </a:r>
            <a:endParaRPr lang="en-US" sz="3500" dirty="0"/>
          </a:p>
        </p:txBody>
      </p:sp>
      <p:sp>
        <p:nvSpPr>
          <p:cNvPr id="8" name="Text 5"/>
          <p:cNvSpPr/>
          <p:nvPr/>
        </p:nvSpPr>
        <p:spPr>
          <a:xfrm>
            <a:off x="6324124" y="5025985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Power BI deep-dive into ride-hailing performance — covering trip conversion, demand patterns, zone analytics, and payment behavior across Bangalore.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4447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65" y="591860"/>
            <a:ext cx="5284351" cy="704588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193274" y="798314"/>
            <a:ext cx="1005959" cy="374452"/>
          </a:xfrm>
          <a:prstGeom prst="roundRect">
            <a:avLst>
              <a:gd name="adj" fmla="val 6473"/>
            </a:avLst>
          </a:prstGeom>
          <a:noFill/>
          <a:ln w="7620">
            <a:solidFill>
              <a:srgbClr val="F98AC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21981" y="866418"/>
            <a:ext cx="748546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OBJECTIVE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193274" y="1240869"/>
            <a:ext cx="6479143" cy="594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We Set Out to Discover</a:t>
            </a:r>
            <a:endParaRPr lang="en-US" sz="3700" dirty="0"/>
          </a:p>
        </p:txBody>
      </p:sp>
      <p:sp>
        <p:nvSpPr>
          <p:cNvPr id="7" name="Shape 4"/>
          <p:cNvSpPr/>
          <p:nvPr/>
        </p:nvSpPr>
        <p:spPr>
          <a:xfrm>
            <a:off x="6193274" y="2090618"/>
            <a:ext cx="7730252" cy="1146572"/>
          </a:xfrm>
          <a:prstGeom prst="roundRect">
            <a:avLst>
              <a:gd name="adj" fmla="val 9570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0414" y="2090618"/>
            <a:ext cx="91440" cy="11465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86644" y="2315408"/>
            <a:ext cx="2376130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Trip Conversion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486644" y="2714625"/>
            <a:ext cx="7212092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Measure search-to-completion rates and identify drop-off points in the rider journey.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193274" y="3407569"/>
            <a:ext cx="7730252" cy="1146572"/>
          </a:xfrm>
          <a:prstGeom prst="roundRect">
            <a:avLst>
              <a:gd name="adj" fmla="val 9570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414" y="3407569"/>
            <a:ext cx="91440" cy="11465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86644" y="3632359"/>
            <a:ext cx="2376130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Demand Patterns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6486644" y="4031575"/>
            <a:ext cx="7212092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Uncover peak hours, high-demand zones, and seasonal trends across Bangalore.</a:t>
            </a:r>
            <a:endParaRPr lang="en-US" sz="1550" dirty="0"/>
          </a:p>
        </p:txBody>
      </p:sp>
      <p:sp>
        <p:nvSpPr>
          <p:cNvPr id="15" name="Shape 10"/>
          <p:cNvSpPr/>
          <p:nvPr/>
        </p:nvSpPr>
        <p:spPr>
          <a:xfrm>
            <a:off x="6193274" y="4724519"/>
            <a:ext cx="7730252" cy="1444347"/>
          </a:xfrm>
          <a:prstGeom prst="roundRect">
            <a:avLst>
              <a:gd name="adj" fmla="val 7597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414" y="4724519"/>
            <a:ext cx="91440" cy="144434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86644" y="4949309"/>
            <a:ext cx="2631638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Payment &amp; Cancellation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6486644" y="5348526"/>
            <a:ext cx="7212092" cy="595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Analyze payment method distribution and cancellation rates to surface operational friction.</a:t>
            </a:r>
            <a:endParaRPr lang="en-US" sz="1550" dirty="0"/>
          </a:p>
        </p:txBody>
      </p:sp>
      <p:sp>
        <p:nvSpPr>
          <p:cNvPr id="19" name="Shape 13"/>
          <p:cNvSpPr/>
          <p:nvPr/>
        </p:nvSpPr>
        <p:spPr>
          <a:xfrm>
            <a:off x="6193274" y="6360557"/>
            <a:ext cx="7730252" cy="1070729"/>
          </a:xfrm>
          <a:prstGeom prst="roundRect">
            <a:avLst>
              <a:gd name="adj" fmla="val 2830"/>
            </a:avLst>
          </a:prstGeom>
          <a:solidFill>
            <a:srgbClr val="022349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5204" y="6642021"/>
            <a:ext cx="252413" cy="20193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849547" y="6581418"/>
            <a:ext cx="6872049" cy="595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Insight: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45% conversion rate indicates moderate performance — over half of all searches never result in a completed trip.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3068" y="588050"/>
            <a:ext cx="1628299" cy="376714"/>
          </a:xfrm>
          <a:prstGeom prst="roundRect">
            <a:avLst>
              <a:gd name="adj" fmla="val 6672"/>
            </a:avLst>
          </a:prstGeom>
          <a:solidFill>
            <a:srgbClr val="49042A"/>
          </a:solidFill>
          <a:ln/>
        </p:spPr>
      </p:sp>
      <p:sp>
        <p:nvSpPr>
          <p:cNvPr id="3" name="Text 1"/>
          <p:cNvSpPr/>
          <p:nvPr/>
        </p:nvSpPr>
        <p:spPr>
          <a:xfrm>
            <a:off x="858679" y="650796"/>
            <a:ext cx="1377077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3068" y="1037987"/>
            <a:ext cx="7381875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From Raw Data to Clean Dataset</a:t>
            </a:r>
            <a:endParaRPr lang="en-US" sz="3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068" y="2134791"/>
            <a:ext cx="4275296" cy="42752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27000" y="2710815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Source &amp; Scope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527000" y="3202067"/>
            <a:ext cx="8377833" cy="62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Dataset sourced from Namma Yatri's public trip logs, covering </a:t>
            </a:r>
            <a:pPr algn="l" indent="0" marL="0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2,161 ride searches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across Bangalore zones.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527000" y="4013478"/>
            <a:ext cx="2829282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Transformations Applied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527000" y="4504730"/>
            <a:ext cx="8377833" cy="1448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Removed nulls in pickup/drop-off timestamps</a:t>
            </a:r>
            <a:endParaRPr lang="en-US" sz="1600" dirty="0"/>
          </a:p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Standardized zone naming conventions</a:t>
            </a:r>
            <a:endParaRPr lang="en-US" sz="1600" dirty="0"/>
          </a:p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Derived trip duration and wait-time columns</a:t>
            </a:r>
            <a:endParaRPr lang="en-US" sz="1600" dirty="0"/>
          </a:p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Flagged cancelled vs. completed trips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33068" y="6822281"/>
            <a:ext cx="13164264" cy="819150"/>
          </a:xfrm>
          <a:prstGeom prst="roundRect">
            <a:avLst>
              <a:gd name="adj" fmla="val 3836"/>
            </a:avLst>
          </a:prstGeom>
          <a:solidFill>
            <a:srgbClr val="4904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499" y="7121604"/>
            <a:ext cx="261818" cy="20943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3748" y="7057787"/>
            <a:ext cx="12274153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Insight: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After cleaning, </a:t>
            </a:r>
            <a:pPr algn="l" indent="0" marL="0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983 trips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were confirmed completed — a 45% conversion rate from the original 2,161 searches.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49874" y="493157"/>
            <a:ext cx="921901" cy="284321"/>
          </a:xfrm>
          <a:prstGeom prst="roundRect">
            <a:avLst>
              <a:gd name="adj" fmla="val 7104"/>
            </a:avLst>
          </a:prstGeom>
          <a:solidFill>
            <a:srgbClr val="49042A"/>
          </a:solidFill>
          <a:ln/>
        </p:spPr>
      </p:sp>
      <p:sp>
        <p:nvSpPr>
          <p:cNvPr id="3" name="Text 1"/>
          <p:cNvSpPr/>
          <p:nvPr/>
        </p:nvSpPr>
        <p:spPr>
          <a:xfrm>
            <a:off x="1950839" y="543639"/>
            <a:ext cx="719971" cy="183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MODEL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849874" y="824746"/>
            <a:ext cx="3960257" cy="494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Star Schema Design</a:t>
            </a:r>
            <a:endParaRPr lang="en-US" sz="3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9874" y="1630204"/>
            <a:ext cx="5259943" cy="525994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874" y="1630204"/>
            <a:ext cx="5259943" cy="52599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7965" y="3144560"/>
            <a:ext cx="1980128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 Structure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7527965" y="3510201"/>
            <a:ext cx="5259943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star schema was built with </a:t>
            </a:r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Fact_Trips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at the center, linked to four dimension tables enabling fast, flexible analysis across zones, time, payment, and driver attributes.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527965" y="4316373"/>
            <a:ext cx="1980128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Relationships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7527965" y="4682014"/>
            <a:ext cx="5259943" cy="770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One-to-many from dimensions to fact table</a:t>
            </a:r>
            <a:endParaRPr lang="en-US" sz="13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Active relationships on zone and time keys</a:t>
            </a:r>
            <a:endParaRPr lang="en-US" sz="13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Inactive relationship on cancellation flag for toggle filtering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849874" y="7156371"/>
            <a:ext cx="10930533" cy="580073"/>
          </a:xfrm>
          <a:prstGeom prst="roundRect">
            <a:avLst>
              <a:gd name="adj" fmla="val 4352"/>
            </a:avLst>
          </a:prstGeom>
          <a:solidFill>
            <a:srgbClr val="02234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109" y="7386995"/>
            <a:ext cx="210383" cy="16823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396728" y="7316629"/>
            <a:ext cx="10215443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Insight: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 star schema reduced query complexity and enabled seamless cross-filtering across all dashboard pages.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976074"/>
            <a:ext cx="1526143" cy="449818"/>
          </a:xfrm>
          <a:prstGeom prst="roundRect">
            <a:avLst>
              <a:gd name="adj" fmla="val 6386"/>
            </a:avLst>
          </a:prstGeom>
          <a:solidFill>
            <a:srgbClr val="49042A"/>
          </a:solidFill>
          <a:ln/>
        </p:spPr>
      </p:sp>
      <p:sp>
        <p:nvSpPr>
          <p:cNvPr id="3" name="Text 1"/>
          <p:cNvSpPr/>
          <p:nvPr/>
        </p:nvSpPr>
        <p:spPr>
          <a:xfrm>
            <a:off x="981313" y="1047869"/>
            <a:ext cx="1238964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DAX MEASURES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1521619"/>
            <a:ext cx="642747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Metrics Built in DAX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837724" y="2584609"/>
            <a:ext cx="6357818" cy="1380053"/>
          </a:xfrm>
          <a:prstGeom prst="roundRect">
            <a:avLst>
              <a:gd name="adj" fmla="val 2602"/>
            </a:avLst>
          </a:prstGeom>
          <a:solidFill>
            <a:srgbClr val="444752"/>
          </a:solidFill>
          <a:ln/>
        </p:spPr>
      </p:sp>
      <p:sp>
        <p:nvSpPr>
          <p:cNvPr id="6" name="Text 4"/>
          <p:cNvSpPr/>
          <p:nvPr/>
        </p:nvSpPr>
        <p:spPr>
          <a:xfrm>
            <a:off x="1077039" y="282392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Conversion Rate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7039" y="3319463"/>
            <a:ext cx="5879187" cy="40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DIVIDE([Completed Trips], [Total Searches])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45%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7434858" y="2584609"/>
            <a:ext cx="6357818" cy="1380053"/>
          </a:xfrm>
          <a:prstGeom prst="roundRect">
            <a:avLst>
              <a:gd name="adj" fmla="val 2602"/>
            </a:avLst>
          </a:prstGeom>
          <a:solidFill>
            <a:srgbClr val="444752"/>
          </a:solidFill>
          <a:ln/>
        </p:spPr>
      </p:sp>
      <p:sp>
        <p:nvSpPr>
          <p:cNvPr id="9" name="Text 7"/>
          <p:cNvSpPr/>
          <p:nvPr/>
        </p:nvSpPr>
        <p:spPr>
          <a:xfrm>
            <a:off x="7674173" y="282392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Cancellation Rate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74173" y="3319463"/>
            <a:ext cx="5879187" cy="40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DIVIDE([Cancelled], [Total Searches])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18%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837724" y="4203978"/>
            <a:ext cx="6357818" cy="1380053"/>
          </a:xfrm>
          <a:prstGeom prst="roundRect">
            <a:avLst>
              <a:gd name="adj" fmla="val 2602"/>
            </a:avLst>
          </a:prstGeom>
          <a:solidFill>
            <a:srgbClr val="444752"/>
          </a:solidFill>
          <a:ln/>
        </p:spPr>
      </p:sp>
      <p:sp>
        <p:nvSpPr>
          <p:cNvPr id="12" name="Text 10"/>
          <p:cNvSpPr/>
          <p:nvPr/>
        </p:nvSpPr>
        <p:spPr>
          <a:xfrm>
            <a:off x="1077039" y="44432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Avg. Trip Duration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77039" y="4938832"/>
            <a:ext cx="5879187" cy="40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AVERAGE(Trips[Duration_Min])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24 min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7434858" y="4203978"/>
            <a:ext cx="6357818" cy="1380053"/>
          </a:xfrm>
          <a:prstGeom prst="roundRect">
            <a:avLst>
              <a:gd name="adj" fmla="val 2602"/>
            </a:avLst>
          </a:prstGeom>
          <a:solidFill>
            <a:srgbClr val="444752"/>
          </a:solidFill>
          <a:ln/>
        </p:spPr>
      </p:sp>
      <p:sp>
        <p:nvSpPr>
          <p:cNvPr id="15" name="Text 13"/>
          <p:cNvSpPr/>
          <p:nvPr/>
        </p:nvSpPr>
        <p:spPr>
          <a:xfrm>
            <a:off x="7674173" y="44432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Peak Hour Index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674173" y="4938832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Trips per hour vs. daily average →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8–10 PM = 2.1× baseline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837724" y="5853232"/>
            <a:ext cx="12954952" cy="1400175"/>
          </a:xfrm>
          <a:prstGeom prst="roundRect">
            <a:avLst>
              <a:gd name="adj" fmla="val 2564"/>
            </a:avLst>
          </a:prstGeom>
          <a:solidFill>
            <a:srgbClr val="49042A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039" y="6201966"/>
            <a:ext cx="299204" cy="23931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615559" y="6152317"/>
            <a:ext cx="1193780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Insight: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 Peak Hour Index measure revealed that evening hours (8–10 PM) generate over twice the baseline trip volume, critical for driver allocation.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8324" y="599242"/>
            <a:ext cx="1872020" cy="350758"/>
          </a:xfrm>
          <a:prstGeom prst="roundRect">
            <a:avLst>
              <a:gd name="adj" fmla="val 6782"/>
            </a:avLst>
          </a:prstGeom>
          <a:solidFill>
            <a:srgbClr val="49042A"/>
          </a:solidFill>
          <a:ln/>
        </p:spPr>
      </p:sp>
      <p:sp>
        <p:nvSpPr>
          <p:cNvPr id="3" name="Text 1"/>
          <p:cNvSpPr/>
          <p:nvPr/>
        </p:nvSpPr>
        <p:spPr>
          <a:xfrm>
            <a:off x="997148" y="658654"/>
            <a:ext cx="1634371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DASHBOARD ·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78324" y="1015603"/>
            <a:ext cx="6763822" cy="583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Overview Page: The Big Picture</a:t>
            </a:r>
            <a:endParaRPr lang="en-US" sz="3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324" y="2029539"/>
            <a:ext cx="4191357" cy="41913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60933" y="2921079"/>
            <a:ext cx="2852380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the Overview Shows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560933" y="3376613"/>
            <a:ext cx="8198644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landing page consolidates all critical KPIs — total searches, completed trips, conversion rate, and a zone map — giving leadership an instant health check.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60933" y="4104084"/>
            <a:ext cx="8198644" cy="1331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2,161</a:t>
            </a:r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total ride searches</a:t>
            </a:r>
            <a:endParaRPr lang="en-US" sz="1550" dirty="0"/>
          </a:p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983</a:t>
            </a:r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trips completed</a:t>
            </a:r>
            <a:endParaRPr lang="en-US" sz="1550" dirty="0"/>
          </a:p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45%</a:t>
            </a:r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overall conversion rate</a:t>
            </a:r>
            <a:endParaRPr lang="en-US" sz="1550" dirty="0"/>
          </a:p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18%</a:t>
            </a:r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cancellation rate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78324" y="6590228"/>
            <a:ext cx="12873752" cy="1040130"/>
          </a:xfrm>
          <a:prstGeom prst="roundRect">
            <a:avLst>
              <a:gd name="adj" fmla="val 2859"/>
            </a:avLst>
          </a:prstGeom>
          <a:solidFill>
            <a:srgbClr val="02234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44" y="6870263"/>
            <a:ext cx="247769" cy="1981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22333" y="6803827"/>
            <a:ext cx="12031623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Insight:</a:t>
            </a:r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45% conversion rate indicates moderate performance — over half of all ride searches never result in a completed trip, signaling significant drop-off.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5455" y="640318"/>
            <a:ext cx="1955363" cy="412790"/>
          </a:xfrm>
          <a:prstGeom prst="roundRect">
            <a:avLst>
              <a:gd name="adj" fmla="val 6524"/>
            </a:avLst>
          </a:prstGeom>
          <a:solidFill>
            <a:srgbClr val="49042A"/>
          </a:solidFill>
          <a:ln/>
        </p:spPr>
      </p:sp>
      <p:sp>
        <p:nvSpPr>
          <p:cNvPr id="3" name="Text 1"/>
          <p:cNvSpPr/>
          <p:nvPr/>
        </p:nvSpPr>
        <p:spPr>
          <a:xfrm>
            <a:off x="919996" y="707588"/>
            <a:ext cx="1686282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DASHBOARD · FUNNEL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85455" y="1137166"/>
            <a:ext cx="5760720" cy="659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Trip Conversion Funnel</a:t>
            </a:r>
            <a:endParaRPr lang="en-US" sz="4150" dirty="0"/>
          </a:p>
        </p:txBody>
      </p:sp>
      <p:sp>
        <p:nvSpPr>
          <p:cNvPr id="5" name="Text 3"/>
          <p:cNvSpPr/>
          <p:nvPr/>
        </p:nvSpPr>
        <p:spPr>
          <a:xfrm>
            <a:off x="785455" y="2364462"/>
            <a:ext cx="688181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-apple-system, BlinkMacSystemFont, Segoe UI, Roboto, Helvetica Neue, Arial, sans-serif Black" pitchFamily="34" charset="0"/>
                <a:ea typeface="-apple-system, BlinkMacSystemFont, Segoe UI, Roboto, Helvetica Neue, Arial, sans-serif Black" pitchFamily="34" charset="-122"/>
                <a:cs typeface="-apple-system, BlinkMacSystemFont, Segoe UI, Roboto, Helvetica Neue, Arial, sans-serif Black" pitchFamily="34" charset="-120"/>
              </a:rPr>
              <a:t>45.49%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85455" y="2577822"/>
            <a:ext cx="897850" cy="121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Total conversion rate </a:t>
            </a:r>
            <a:endParaRPr lang="en-US" sz="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455" y="2775585"/>
            <a:ext cx="6256020" cy="3230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96545" y="2323028"/>
            <a:ext cx="2821305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Where Riders Drop Off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7596545" y="2863453"/>
            <a:ext cx="6256020" cy="104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funnel reveals critical attrition: </a:t>
            </a:r>
            <a:pPr algn="l" indent="0" marL="0">
              <a:lnSpc>
                <a:spcPts val="270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30% of searches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never get a driver assigned, and a further </a:t>
            </a:r>
            <a:pPr algn="l" indent="0" marL="0">
              <a:lnSpc>
                <a:spcPts val="270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17%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abandon after assignment but before pickup.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596545" y="4096107"/>
            <a:ext cx="6256020" cy="1190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Search → Assigned: </a:t>
            </a:r>
            <a:pPr algn="l" indent="0" marL="0">
              <a:lnSpc>
                <a:spcPts val="270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70% pass-through</a:t>
            </a:r>
            <a:endParaRPr lang="en-US" sz="175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Assigned → Arrived: </a:t>
            </a:r>
            <a:pPr algn="l" indent="0" marL="0">
              <a:lnSpc>
                <a:spcPts val="270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82% pass-through</a:t>
            </a:r>
            <a:endParaRPr lang="en-US" sz="175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Started → Completed: </a:t>
            </a:r>
            <a:pPr algn="l" indent="0" marL="0">
              <a:lnSpc>
                <a:spcPts val="270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90% pass-through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85455" y="6325672"/>
            <a:ext cx="13059489" cy="1263491"/>
          </a:xfrm>
          <a:prstGeom prst="roundRect">
            <a:avLst>
              <a:gd name="adj" fmla="val 2664"/>
            </a:avLst>
          </a:prstGeom>
          <a:solidFill>
            <a:srgbClr val="4B3F0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769" y="6645950"/>
            <a:ext cx="280511" cy="22431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14594" y="6592133"/>
            <a:ext cx="12106037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Insight: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 largest drop-off (30%) occurs before driver assignment — indicating driver availability, not rider behavior, is the primary bottleneck.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1649" y="741283"/>
            <a:ext cx="2528530" cy="431125"/>
          </a:xfrm>
          <a:prstGeom prst="roundRect">
            <a:avLst>
              <a:gd name="adj" fmla="val 6455"/>
            </a:avLst>
          </a:prstGeom>
          <a:solidFill>
            <a:srgbClr val="49042A"/>
          </a:solidFill>
          <a:ln/>
        </p:spPr>
      </p:sp>
      <p:sp>
        <p:nvSpPr>
          <p:cNvPr id="3" name="Text 1"/>
          <p:cNvSpPr/>
          <p:nvPr/>
        </p:nvSpPr>
        <p:spPr>
          <a:xfrm>
            <a:off x="950714" y="810816"/>
            <a:ext cx="2250400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DASHBOARD · TIME ANALYSIS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811649" y="1262182"/>
            <a:ext cx="5456396" cy="68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When Demand Peaks</a:t>
            </a:r>
            <a:endParaRPr lang="en-US" sz="4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649" y="2533769"/>
            <a:ext cx="6220658" cy="37810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05713" y="2505670"/>
            <a:ext cx="2728198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Evening Dominance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605713" y="3071098"/>
            <a:ext cx="6220658" cy="1095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Trip volume peaks sharply between </a:t>
            </a:r>
            <a:pPr algn="l" indent="0" marL="0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8–10 PM</a:t>
            </a:r>
            <a:pPr algn="l"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with 103 trips — </a:t>
            </a:r>
            <a:pPr algn="l" indent="0" marL="0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2.1× the daily baseline</a:t>
            </a:r>
            <a:pPr algn="l"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Morning rush (8 AM) is the secondary peak.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605713" y="4391501"/>
            <a:ext cx="3013948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Operational Implication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605713" y="4956929"/>
            <a:ext cx="6220658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Driver incentives should be concentrated in the 6–10 PM window to match supply with the highest demand periods.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11649" y="6522601"/>
            <a:ext cx="13007102" cy="965716"/>
          </a:xfrm>
          <a:prstGeom prst="roundRect">
            <a:avLst>
              <a:gd name="adj" fmla="val 3602"/>
            </a:avLst>
          </a:prstGeom>
          <a:solidFill>
            <a:srgbClr val="4904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464" y="6860858"/>
            <a:ext cx="289798" cy="2318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65077" y="6805017"/>
            <a:ext cx="12021860" cy="36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Insight:</a:t>
            </a:r>
            <a:pPr algn="l"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8–10 PM generates 2.1× baseline trip volume — a clear signal for dynamic pricing and driver incentive windows.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5455" y="640318"/>
            <a:ext cx="2651879" cy="412790"/>
          </a:xfrm>
          <a:prstGeom prst="roundRect">
            <a:avLst>
              <a:gd name="adj" fmla="val 6524"/>
            </a:avLst>
          </a:prstGeom>
          <a:solidFill>
            <a:srgbClr val="49042A"/>
          </a:solidFill>
          <a:ln/>
        </p:spPr>
      </p:sp>
      <p:sp>
        <p:nvSpPr>
          <p:cNvPr id="3" name="Text 1"/>
          <p:cNvSpPr/>
          <p:nvPr/>
        </p:nvSpPr>
        <p:spPr>
          <a:xfrm>
            <a:off x="919996" y="707588"/>
            <a:ext cx="2382798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DASHBOARD · ZONE &amp; PAYMENT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85455" y="1137166"/>
            <a:ext cx="9620964" cy="659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Zone Performance &amp; Payment Behavior</a:t>
            </a:r>
            <a:endParaRPr lang="en-US" sz="4150" dirty="0"/>
          </a:p>
        </p:txBody>
      </p:sp>
      <p:sp>
        <p:nvSpPr>
          <p:cNvPr id="5" name="Shape 3"/>
          <p:cNvSpPr/>
          <p:nvPr/>
        </p:nvSpPr>
        <p:spPr>
          <a:xfrm>
            <a:off x="785455" y="2349222"/>
            <a:ext cx="930950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795" y="2385774"/>
            <a:ext cx="91440" cy="91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715" y="2372082"/>
            <a:ext cx="702350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Trips Completed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777365" y="2349222"/>
            <a:ext cx="644723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705" y="2385774"/>
            <a:ext cx="91440" cy="914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52625" y="2372082"/>
            <a:ext cx="416123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Cancelled</a:t>
            </a:r>
            <a:endParaRPr lang="en-US" sz="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55" y="2589967"/>
            <a:ext cx="6256020" cy="34213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596545" y="2323028"/>
            <a:ext cx="2640211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Zone Insights</a:t>
            </a:r>
            <a:endParaRPr lang="en-US" sz="2050" dirty="0"/>
          </a:p>
        </p:txBody>
      </p:sp>
      <p:sp>
        <p:nvSpPr>
          <p:cNvPr id="13" name="Text 8"/>
          <p:cNvSpPr/>
          <p:nvPr/>
        </p:nvSpPr>
        <p:spPr>
          <a:xfrm>
            <a:off x="7596545" y="2863453"/>
            <a:ext cx="6256020" cy="104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Koramangala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leads with 214 completed trips but also records the highest cancellations (38). </a:t>
            </a:r>
            <a:pPr algn="l" indent="0" marL="0">
              <a:lnSpc>
                <a:spcPts val="270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Whitefield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has a concerning 25% cancellation rate.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7596545" y="4117181"/>
            <a:ext cx="2640211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Payment Split</a:t>
            </a:r>
            <a:endParaRPr lang="en-US" sz="2050" dirty="0"/>
          </a:p>
        </p:txBody>
      </p:sp>
      <p:sp>
        <p:nvSpPr>
          <p:cNvPr id="15" name="Text 10"/>
          <p:cNvSpPr/>
          <p:nvPr/>
        </p:nvSpPr>
        <p:spPr>
          <a:xfrm>
            <a:off x="7596545" y="4657606"/>
            <a:ext cx="6256020" cy="1190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Cash: </a:t>
            </a:r>
            <a:pPr algn="l" indent="0" marL="0">
              <a:lnSpc>
                <a:spcPts val="270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61%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all trips</a:t>
            </a:r>
            <a:endParaRPr lang="en-US" sz="175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UPI: </a:t>
            </a:r>
            <a:pPr algn="l" indent="0" marL="0">
              <a:lnSpc>
                <a:spcPts val="270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32%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growing segment</a:t>
            </a:r>
            <a:endParaRPr lang="en-US" sz="175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Card/Wallet: </a:t>
            </a:r>
            <a:pPr algn="l" indent="0" marL="0">
              <a:lnSpc>
                <a:spcPts val="270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7%</a:t>
            </a:r>
            <a:endParaRPr lang="en-US" sz="1750" dirty="0"/>
          </a:p>
        </p:txBody>
      </p:sp>
      <p:sp>
        <p:nvSpPr>
          <p:cNvPr id="16" name="Shape 11"/>
          <p:cNvSpPr/>
          <p:nvPr/>
        </p:nvSpPr>
        <p:spPr>
          <a:xfrm>
            <a:off x="785455" y="6325672"/>
            <a:ext cx="13059489" cy="1263491"/>
          </a:xfrm>
          <a:prstGeom prst="roundRect">
            <a:avLst>
              <a:gd name="adj" fmla="val 2664"/>
            </a:avLst>
          </a:prstGeom>
          <a:solidFill>
            <a:srgbClr val="022349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769" y="6645950"/>
            <a:ext cx="280511" cy="22431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14594" y="6592133"/>
            <a:ext cx="12106037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Insight: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Whitefield's 25% cancellation rate is the highest among all zones — driver supply mismatch or longer wait times are likely causes.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4447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751" y="594241"/>
            <a:ext cx="5280779" cy="704111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9971" y="586740"/>
            <a:ext cx="1171456" cy="368022"/>
          </a:xfrm>
          <a:prstGeom prst="roundRect">
            <a:avLst>
              <a:gd name="adj" fmla="val 6708"/>
            </a:avLst>
          </a:prstGeom>
          <a:solidFill>
            <a:srgbClr val="49042A"/>
          </a:solidFill>
          <a:ln/>
        </p:spPr>
      </p:sp>
      <p:sp>
        <p:nvSpPr>
          <p:cNvPr id="5" name="Text 2"/>
          <p:cNvSpPr/>
          <p:nvPr/>
        </p:nvSpPr>
        <p:spPr>
          <a:xfrm>
            <a:off x="843320" y="648414"/>
            <a:ext cx="924758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19971" y="1025366"/>
            <a:ext cx="7704058" cy="1209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Takeaways &amp; Recommendations</a:t>
            </a:r>
            <a:endParaRPr lang="en-US" sz="3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123" y="2506801"/>
            <a:ext cx="308491" cy="3084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88388" y="2500432"/>
            <a:ext cx="3082290" cy="302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Improve Driver Assignment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388388" y="2908935"/>
            <a:ext cx="7035641" cy="61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30% of searches never get a driver — focus on driver density in Koramangala and Whitefield during peak hours.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7123" y="3880783"/>
            <a:ext cx="308491" cy="3084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88388" y="3874413"/>
            <a:ext cx="2897743" cy="302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Incentivize Evening Shifts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1388388" y="4282916"/>
            <a:ext cx="7035641" cy="61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8–10 PM demand is 2.1× baseline; targeted surge pricing and driver bonuses can close the supply gap.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7123" y="5254764"/>
            <a:ext cx="308491" cy="3084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88388" y="5248394"/>
            <a:ext cx="2753320" cy="302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Accelerate UPI Adoption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1388388" y="5656898"/>
            <a:ext cx="7035641" cy="61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Only 32% of trips use digital payment — cash dominance (61%) increases reconciliation overhead and fraud risk.</a:t>
            </a:r>
            <a:endParaRPr lang="en-US" sz="16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7123" y="6628745"/>
            <a:ext cx="308491" cy="30849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88388" y="6622375"/>
            <a:ext cx="3046214" cy="302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Monitor Whitefield Closely</a:t>
            </a:r>
            <a:endParaRPr lang="en-US" sz="1900" dirty="0"/>
          </a:p>
        </p:txBody>
      </p:sp>
      <p:sp>
        <p:nvSpPr>
          <p:cNvPr id="18" name="Text 11"/>
          <p:cNvSpPr/>
          <p:nvPr/>
        </p:nvSpPr>
        <p:spPr>
          <a:xfrm>
            <a:off x="1388388" y="7030879"/>
            <a:ext cx="7035641" cy="61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25% cancellation rate demands immediate investigation — driver wait times and zone coverage are primary suspects.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2026-04-22T06:04:30Z</dcterms:created>
  <dcterms:modified xsi:type="dcterms:W3CDTF">2026-04-22T06:04:30Z</dcterms:modified>
</cp:coreProperties>
</file>