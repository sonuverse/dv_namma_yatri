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nton"/>
      <p:regular r:id="rId17"/>
    </p:embeddedFont>
    <p:embeddedFont>
      <p:font typeface="Anton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17027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Sakshi Ghodeswar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- Namma Yatri: Power BI Dashboard Insights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677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data-driven review of ride performance, demand patterns, and strategic opportunities — built for leadership decision-making.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25346"/>
            <a:ext cx="1703427" cy="426244"/>
          </a:xfrm>
          <a:prstGeom prst="roundRect">
            <a:avLst>
              <a:gd name="adj" fmla="val 6386"/>
            </a:avLst>
          </a:prstGeom>
          <a:solidFill>
            <a:srgbClr val="490315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693331"/>
            <a:ext cx="14312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Q3 2024 ANALYSIS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10564" y="5617726"/>
            <a:ext cx="213991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A95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54273" y="5693331"/>
            <a:ext cx="18524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POWER BI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4251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Performance at a Glance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2,161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2602230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Total Searches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9025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Ride requests initiated across all zones in the review period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48193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983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281398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Completed Rides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448193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Successfully fulfilled trips — our primary revenue driver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025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45.49%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2602230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Conversion Rate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9025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Proportion of searches that resulted in completed rides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48193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₹751K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281398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Total Revenue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48193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Gross revenue generated across all completed trips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9025" y="6294001"/>
            <a:ext cx="13092351" cy="1261229"/>
          </a:xfrm>
          <a:prstGeom prst="roundRect">
            <a:avLst>
              <a:gd name="adj" fmla="val 2613"/>
            </a:avLst>
          </a:prstGeom>
          <a:solidFill>
            <a:srgbClr val="49031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95" y="6620113"/>
            <a:ext cx="274558" cy="21967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2923" y="6561653"/>
            <a:ext cx="1215878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2,161 searches but only 983 completions, over half the potential demand is lost before a ride is fulfilled — a significant revenue gap to address.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841"/>
            <a:ext cx="61844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Ride Conversion Funnel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4173"/>
            <a:ext cx="688181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-apple-system, BlinkMacSystemFont, Segoe UI, Roboto, Helvetica Neue, Arial, sans-serif Black" pitchFamily="34" charset="0"/>
                <a:ea typeface="-apple-system, BlinkMacSystemFont, Segoe UI, Roboto, Helvetica Neue, Arial, sans-serif Black" pitchFamily="34" charset="-122"/>
                <a:cs typeface="-apple-system, BlinkMacSystemFont, Segoe UI, Roboto, Helvetica Neue, Arial, sans-serif Black" pitchFamily="34" charset="-120"/>
              </a:rPr>
              <a:t>45.49%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167533"/>
            <a:ext cx="897850" cy="121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conversion rate 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65296"/>
            <a:ext cx="6244709" cy="3267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1910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Where Demand Drops Off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24917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funnel reveals critical leakage points between search and completion.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421618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35% drop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between search and booking — users abandon before confirming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18% drop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between booking and driver assignment — supply gap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6% drop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post-assignment — cancellations and no-shows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599521" y="564987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986343"/>
            <a:ext cx="283488" cy="2268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36637" y="593336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largest drop-off occurs before booking — pricing transparency and wait-time estimates are likely friction points.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607" y="584716"/>
            <a:ext cx="5295067" cy="706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846" y="553403"/>
            <a:ext cx="7804309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Demand Trends: When Riders Need Us Most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669846" y="1991678"/>
            <a:ext cx="7804309" cy="1388507"/>
          </a:xfrm>
          <a:prstGeom prst="roundRect">
            <a:avLst>
              <a:gd name="adj" fmla="val 7903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6986" y="1991678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FA95AE"/>
          </a:solidFill>
          <a:ln/>
        </p:spPr>
      </p:sp>
      <p:sp>
        <p:nvSpPr>
          <p:cNvPr id="7" name="Text 4"/>
          <p:cNvSpPr/>
          <p:nvPr/>
        </p:nvSpPr>
        <p:spPr>
          <a:xfrm>
            <a:off x="952619" y="220587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Peak Hours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52619" y="2601635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Morning (8–10 AM) and evening (6–9 PM) commutes account for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~62%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all searches — align driver incentives to these windows.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9846" y="3541633"/>
            <a:ext cx="7804309" cy="1388507"/>
          </a:xfrm>
          <a:prstGeom prst="roundRect">
            <a:avLst>
              <a:gd name="adj" fmla="val 7903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986" y="3541633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FA95AE"/>
          </a:solidFill>
          <a:ln/>
        </p:spPr>
      </p:sp>
      <p:sp>
        <p:nvSpPr>
          <p:cNvPr id="11" name="Text 8"/>
          <p:cNvSpPr/>
          <p:nvPr/>
        </p:nvSpPr>
        <p:spPr>
          <a:xfrm>
            <a:off x="952619" y="375582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Weekday vs Weekend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2619" y="4151590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Weekday searches outpace weekends by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3:1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reflecting commuter-dominated demand. Weekend evenings show a secondary leisure-ride spike.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9846" y="5091589"/>
            <a:ext cx="7804309" cy="1388507"/>
          </a:xfrm>
          <a:prstGeom prst="roundRect">
            <a:avLst>
              <a:gd name="adj" fmla="val 7903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6986" y="5091589"/>
            <a:ext cx="91440" cy="1388507"/>
          </a:xfrm>
          <a:prstGeom prst="roundRect">
            <a:avLst>
              <a:gd name="adj" fmla="val 31395"/>
            </a:avLst>
          </a:prstGeom>
          <a:solidFill>
            <a:srgbClr val="FA95AE"/>
          </a:solidFill>
          <a:ln/>
        </p:spPr>
      </p:sp>
      <p:sp>
        <p:nvSpPr>
          <p:cNvPr id="15" name="Text 12"/>
          <p:cNvSpPr/>
          <p:nvPr/>
        </p:nvSpPr>
        <p:spPr>
          <a:xfrm>
            <a:off x="952619" y="530578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Seasonal Pattern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52619" y="5701546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Search volume rises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~18%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during rainy days — an opportunity for surge pricing and proactive driver deployment.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9846" y="6661666"/>
            <a:ext cx="7804309" cy="1014413"/>
          </a:xfrm>
          <a:prstGeom prst="roundRect">
            <a:avLst>
              <a:gd name="adj" fmla="val 2830"/>
            </a:avLst>
          </a:prstGeom>
          <a:solidFill>
            <a:srgbClr val="49031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9" y="6931343"/>
            <a:ext cx="239197" cy="1913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1709" y="6870859"/>
            <a:ext cx="699111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Concentrating driver supply during peak windows could improve assignment rates and reduce the 18% booking-to-assignment drop-off.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841"/>
            <a:ext cx="67979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Zone Performance Breakdown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38933"/>
            <a:ext cx="613410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30" y="1975485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050" y="1961793"/>
            <a:ext cx="384810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Searches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468160" y="1938933"/>
            <a:ext cx="95535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00" y="1975485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3420" y="1961793"/>
            <a:ext cx="72675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Completed Rides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79677"/>
            <a:ext cx="6244709" cy="3457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99521" y="1910596"/>
            <a:ext cx="42733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Central Zone Leads — But Gaps Persist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99521" y="24917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Central Zone generates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all searches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completions — the highest conversion at ~53%.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599521" y="3421618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West Zone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has the lowest conversion (~36%) — driver scarcity is the likely cause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South Zone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shows high search volume but poor completion — investigate wait times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North Zone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is under-served relative to its search demand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599521" y="564987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5986343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36637" y="593336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Redistributing 15–20% of Central Zone drivers to West and South zones could lift overall conversion by 5–8 points.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841"/>
            <a:ext cx="90638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Cancellations: The Hidden Revenue Leak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15133"/>
            <a:ext cx="6244709" cy="36173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8620" y="3239214"/>
            <a:ext cx="118086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960" y="3275767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50550" y="3262074"/>
            <a:ext cx="95226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Driver No-Show·38%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6024562" y="3262074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·38%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061115" y="3262074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148620" y="3464719"/>
            <a:ext cx="117276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960" y="3501271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50550" y="3487579"/>
            <a:ext cx="94416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Rider Cancelled·29%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6016466" y="3487579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·29%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053018" y="348757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5148620" y="3690223"/>
            <a:ext cx="117300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60" y="3726775"/>
            <a:ext cx="91440" cy="91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50550" y="3713083"/>
            <a:ext cx="94440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Long Wait Time·18%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016704" y="3713083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·18%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053257" y="371308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5148620" y="3915728"/>
            <a:ext cx="114419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960" y="3952280"/>
            <a:ext cx="91440" cy="914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50550" y="3938588"/>
            <a:ext cx="91559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Technical Issues·9%</a:t>
            </a:r>
            <a:endParaRPr lang="en-US" sz="700" dirty="0"/>
          </a:p>
        </p:txBody>
      </p:sp>
      <p:sp>
        <p:nvSpPr>
          <p:cNvPr id="22" name="Text 15"/>
          <p:cNvSpPr/>
          <p:nvPr/>
        </p:nvSpPr>
        <p:spPr>
          <a:xfrm>
            <a:off x="6040160" y="3938588"/>
            <a:ext cx="22598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·9%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076712" y="393858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5148620" y="4141232"/>
            <a:ext cx="70496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960" y="4177784"/>
            <a:ext cx="91440" cy="914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50550" y="4164092"/>
            <a:ext cx="47636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Other·6%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5600938" y="4164092"/>
            <a:ext cx="22598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·6%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5637490" y="4164092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7599521" y="1910596"/>
            <a:ext cx="33658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What's Driving Cancellations?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7599521" y="24917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1,178 uncompleted searches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an estimated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~15–18%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result in cancellations — directly eroding revenue.</a:t>
            </a:r>
            <a:endParaRPr lang="en-US" sz="1750" dirty="0"/>
          </a:p>
        </p:txBody>
      </p:sp>
      <p:sp>
        <p:nvSpPr>
          <p:cNvPr id="31" name="Text 23"/>
          <p:cNvSpPr/>
          <p:nvPr/>
        </p:nvSpPr>
        <p:spPr>
          <a:xfrm>
            <a:off x="7599521" y="3421618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Driver no-shows (38%)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the single largest cause; points to reliability and accountability gaps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Rider-initiated cancels (29%)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often triggered by long ETA or better alternatives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Wait time (18%)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 solvable supply-allocation problem</a:t>
            </a:r>
            <a:endParaRPr lang="en-US" sz="1750" dirty="0"/>
          </a:p>
        </p:txBody>
      </p:sp>
      <p:sp>
        <p:nvSpPr>
          <p:cNvPr id="32" name="Shape 24"/>
          <p:cNvSpPr/>
          <p:nvPr/>
        </p:nvSpPr>
        <p:spPr>
          <a:xfrm>
            <a:off x="7599521" y="564987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4B3F0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335" y="5986343"/>
            <a:ext cx="283488" cy="22681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36637" y="593336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Reducing driver no-shows by just 10 points could recover an estimated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₹40–50K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monthly revenue.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3385"/>
            <a:ext cx="82643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Revenue Per Ride: Efficiency Metrics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25792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52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₹764 Avg. Fare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24302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Revenue per completed ride (₹751K ÷ 983 rides). Benchmark against competitor pricing to assess positioning.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25792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752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₹347 Per 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243024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Revenue potential per search initiated. At 100% conversion, total addressable revenue would be ~₹1.65M — nearly 2.2× current performance.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25792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752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₹1.16K Lost Per Day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24302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Estimated daily revenue loss from unconverted searches (based on avg. fare × uncompleted rides ÷ review period days).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539502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49031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875973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822990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Every 1-point improvement in conversion rate translates to approximately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₹7.6K additional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 clear ROI case for funnel optimization.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323" y="599003"/>
            <a:ext cx="5273635" cy="7031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667226"/>
            <a:ext cx="6622494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Power BI Dashboard: Key Views</a:t>
            </a:r>
            <a:endParaRPr lang="en-US" sz="4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260" y="1630680"/>
            <a:ext cx="425291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8749" y="170366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Overview Page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418749" y="2155508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High-level KPIs — searches, completions, conversion rate, and total revenue — with period-over-period comparison.</a:t>
            </a:r>
            <a:endParaRPr lang="en-US" sz="1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260" y="3213259"/>
            <a:ext cx="425291" cy="4252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8749" y="328624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Funnel Analysis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1418749" y="3738086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Step-by-step drop-off visualization from search to completion, filterable by zone, time, and driver category.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260" y="4795838"/>
            <a:ext cx="425291" cy="4252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8749" y="486882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Zone Map View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1418749" y="5320665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Geospatial heatmap of search density vs. completion rates — identifies under-served areas at a glance.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260" y="6378416"/>
            <a:ext cx="425291" cy="4252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8749" y="645140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Time Trends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1418749" y="6903244"/>
            <a:ext cx="698099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Hourly and daily demand patterns with cancellation overlays — essential for driver scheduling decisions.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798"/>
            <a:ext cx="64173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212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0637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0990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Close the Booking Gap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589490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 pre-booking drop-off with upfront fare estimates and live driver availability indicators on the search screen.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20212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7541955" y="20637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20990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Rebalance Zone Supply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2589490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Deploy incentive zones in West and South areas during peak hours to improve driver-to-search ratios and lift conversion.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8860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4209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Tackle Driver No-Shows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4700111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Introduce a driver reliability score with consequences for repeated no-shows; pilot a pre-ride confirmation step.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131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7541955" y="41743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4209693"/>
            <a:ext cx="31280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Automate Weekly Reporting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000" y="4700111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Schedule Power BI dashboard snapshots to leadership every Monday — turning data into a standing operating rhythm.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043970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49031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380440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32745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Implementing all four recommendations could realistically push conversion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45.5% → 60%+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unlocking an additional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₹250–300K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monthly revenue.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607" y="584716"/>
            <a:ext cx="5295067" cy="706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846" y="560665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Next Steps &amp; Ownership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885111" y="1400889"/>
            <a:ext cx="22860" cy="5072063"/>
          </a:xfrm>
          <a:prstGeom prst="roundRect">
            <a:avLst>
              <a:gd name="adj" fmla="val 125581"/>
            </a:avLst>
          </a:prstGeom>
          <a:solidFill>
            <a:srgbClr val="575757"/>
          </a:solidFill>
          <a:ln/>
        </p:spPr>
      </p:sp>
      <p:sp>
        <p:nvSpPr>
          <p:cNvPr id="6" name="Shape 3"/>
          <p:cNvSpPr/>
          <p:nvPr/>
        </p:nvSpPr>
        <p:spPr>
          <a:xfrm>
            <a:off x="1077516" y="1604724"/>
            <a:ext cx="574119" cy="22860"/>
          </a:xfrm>
          <a:prstGeom prst="roundRect">
            <a:avLst>
              <a:gd name="adj" fmla="val 125581"/>
            </a:avLst>
          </a:prstGeom>
          <a:solidFill>
            <a:srgbClr val="575757"/>
          </a:solidFill>
          <a:ln/>
        </p:spPr>
      </p:sp>
      <p:sp>
        <p:nvSpPr>
          <p:cNvPr id="7" name="Shape 4"/>
          <p:cNvSpPr/>
          <p:nvPr/>
        </p:nvSpPr>
        <p:spPr>
          <a:xfrm>
            <a:off x="669846" y="1400889"/>
            <a:ext cx="430530" cy="43053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741581" y="1436787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842016" y="146661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Week 1–2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842016" y="1862376"/>
            <a:ext cx="66321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Operations team to review zone-level driver allocation; implement peak-hour incentives in West and South zones.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77516" y="2953464"/>
            <a:ext cx="574119" cy="22860"/>
          </a:xfrm>
          <a:prstGeom prst="roundRect">
            <a:avLst>
              <a:gd name="adj" fmla="val 125581"/>
            </a:avLst>
          </a:prstGeom>
          <a:solidFill>
            <a:srgbClr val="575757"/>
          </a:solidFill>
          <a:ln/>
        </p:spPr>
      </p:sp>
      <p:sp>
        <p:nvSpPr>
          <p:cNvPr id="12" name="Shape 9"/>
          <p:cNvSpPr/>
          <p:nvPr/>
        </p:nvSpPr>
        <p:spPr>
          <a:xfrm>
            <a:off x="669846" y="2749629"/>
            <a:ext cx="430530" cy="43053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741581" y="2785527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842016" y="281535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Week 3–4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842016" y="3211116"/>
            <a:ext cx="66321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 team to prototype fare transparency features; A/B test on 10% of user traffic.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77516" y="4302204"/>
            <a:ext cx="574119" cy="22860"/>
          </a:xfrm>
          <a:prstGeom prst="roundRect">
            <a:avLst>
              <a:gd name="adj" fmla="val 125581"/>
            </a:avLst>
          </a:prstGeom>
          <a:solidFill>
            <a:srgbClr val="5757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69846" y="4098369"/>
            <a:ext cx="430530" cy="43053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8" name="Text 15"/>
          <p:cNvSpPr/>
          <p:nvPr/>
        </p:nvSpPr>
        <p:spPr>
          <a:xfrm>
            <a:off x="741581" y="4134267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842016" y="416409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Month 2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842016" y="4559856"/>
            <a:ext cx="66321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Launch driver reliability scoring pilot; integrate no-show tracking into Power BI dashboard.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77516" y="5650944"/>
            <a:ext cx="574119" cy="22860"/>
          </a:xfrm>
          <a:prstGeom prst="roundRect">
            <a:avLst>
              <a:gd name="adj" fmla="val 125581"/>
            </a:avLst>
          </a:prstGeom>
          <a:solidFill>
            <a:srgbClr val="575757"/>
          </a:solidFill>
          <a:ln/>
        </p:spPr>
      </p:sp>
      <p:sp>
        <p:nvSpPr>
          <p:cNvPr id="22" name="Shape 19"/>
          <p:cNvSpPr/>
          <p:nvPr/>
        </p:nvSpPr>
        <p:spPr>
          <a:xfrm>
            <a:off x="669846" y="5447109"/>
            <a:ext cx="430530" cy="43053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23" name="Text 20"/>
          <p:cNvSpPr/>
          <p:nvPr/>
        </p:nvSpPr>
        <p:spPr>
          <a:xfrm>
            <a:off x="741581" y="5483007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842016" y="551283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Month 3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842016" y="5908596"/>
            <a:ext cx="66321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leadership review — measure conversion lift, revenue impact, and iterate on recommendations.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69846" y="6654522"/>
            <a:ext cx="7804309" cy="1014413"/>
          </a:xfrm>
          <a:prstGeom prst="roundRect">
            <a:avLst>
              <a:gd name="adj" fmla="val 2830"/>
            </a:avLst>
          </a:prstGeom>
          <a:solidFill>
            <a:srgbClr val="183A1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9" y="6924199"/>
            <a:ext cx="239197" cy="19133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91709" y="6863715"/>
            <a:ext cx="699111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Target: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Achieve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55%+ conversion rate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₹900K+ monthly revenue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within 90 days — a 20%+ improvement on current performance.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2026-04-22T06:15:49Z</dcterms:created>
  <dcterms:modified xsi:type="dcterms:W3CDTF">2026-04-22T06:15:49Z</dcterms:modified>
</cp:coreProperties>
</file>